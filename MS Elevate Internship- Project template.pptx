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7"/>
  </p:notesMasterIdLst>
  <p:sldIdLst>
    <p:sldId id="256" r:id="rId3"/>
    <p:sldId id="571" r:id="rId4"/>
    <p:sldId id="572" r:id="rId5"/>
    <p:sldId id="573" r:id="rId6"/>
    <p:sldId id="574" r:id="rId7"/>
    <p:sldId id="575" r:id="rId8"/>
    <p:sldId id="576" r:id="rId9"/>
    <p:sldId id="580" r:id="rId10"/>
    <p:sldId id="581" r:id="rId11"/>
    <p:sldId id="582"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85" d="100"/>
          <a:sy n="85" d="100"/>
        </p:scale>
        <p:origin x="562" y="53"/>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21-01-2026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14</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21-01-2026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1/21/2026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21/01/2026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ieeexplore.ieee.org/document/11089919" TargetMode="External"/><Relationship Id="rId2" Type="http://schemas.openxmlformats.org/officeDocument/2006/relationships/hyperlink" Target="https://ieeexplore.ieee.org/document/11216811" TargetMode="External"/><Relationship Id="rId1" Type="http://schemas.openxmlformats.org/officeDocument/2006/relationships/slideLayout" Target="../slideLayouts/slideLayout3.xml"/><Relationship Id="rId5" Type="http://schemas.openxmlformats.org/officeDocument/2006/relationships/hyperlink" Target="https://github.com/Niranjanadec12/HR-Analytics-and-Attrition-Dashboard.git" TargetMode="External"/><Relationship Id="rId4" Type="http://schemas.openxmlformats.org/officeDocument/2006/relationships/hyperlink" Target="https://ieeexplore.ieee.org/document/11323687"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127" y="315686"/>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p>
          <a:p>
            <a:pPr algn="l"/>
            <a:endParaRPr lang="en-US" sz="5100" dirty="0">
              <a:latin typeface="Aptos"/>
            </a:endParaRPr>
          </a:p>
          <a:p>
            <a:r>
              <a:rPr lang="en-US" sz="4300" b="1" dirty="0"/>
              <a:t>HR Analytics and Attrition Dashboard </a:t>
            </a:r>
            <a:br>
              <a:rPr lang="en-US" sz="5100" b="1" dirty="0"/>
            </a:br>
            <a:r>
              <a:rPr lang="en-US" sz="5100" b="1" cap="all" dirty="0">
                <a:latin typeface="Aptos"/>
              </a:rPr>
              <a:t> </a:t>
            </a:r>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NIRANJANA B</a:t>
            </a:r>
          </a:p>
          <a:p>
            <a:pPr algn="l">
              <a:spcAft>
                <a:spcPts val="600"/>
              </a:spcAft>
            </a:pPr>
            <a:r>
              <a:rPr lang="en-US" sz="1600" b="1" cap="all" dirty="0"/>
              <a:t>College Name: R.M.D ENGINEERING</a:t>
            </a:r>
          </a:p>
          <a:p>
            <a:pPr algn="l">
              <a:spcAft>
                <a:spcPts val="600"/>
              </a:spcAft>
            </a:pPr>
            <a:r>
              <a:rPr lang="en-US" sz="1600" b="1" cap="all" dirty="0"/>
              <a:t>Department: CSE</a:t>
            </a:r>
          </a:p>
          <a:p>
            <a:pPr algn="l">
              <a:spcAft>
                <a:spcPts val="600"/>
              </a:spcAft>
            </a:pPr>
            <a:r>
              <a:rPr lang="en-US" sz="1600" b="1" cap="all" dirty="0"/>
              <a:t>Email ID:23102142@rmd.ac.in,</a:t>
            </a:r>
          </a:p>
          <a:p>
            <a:pPr algn="l">
              <a:spcAft>
                <a:spcPts val="600"/>
              </a:spcAft>
            </a:pPr>
            <a:r>
              <a:rPr lang="en-US" sz="1600" b="1" cap="all" dirty="0"/>
              <a:t>niranjanadec12@gmail.com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lgn="just">
              <a:lnSpc>
                <a:spcPct val="100000"/>
              </a:lnSpc>
              <a:buNone/>
            </a:pPr>
            <a:r>
              <a:rPr lang="en-US" sz="2200" dirty="0">
                <a:latin typeface="Franklin Gothic Book" panose="020B0503020102020204" pitchFamily="34" charset="0"/>
              </a:rPr>
              <a:t>Employee attrition is a major challenge for organizations, leading to increased hiring costs, loss of skilled employees, and reduced productivity. Existing HR analytics dashboards mainly focus on historical data such as attrition count and attrition rate, which only explain what has already happened. HR teams face difficulty in identifying employees who are likely to leave in the future and understanding which factors contribute most to attrition. The lack of predictive insights and actionable analysis makes it hard for HR managers to take timely preventive measures to reduce employee turnover</a:t>
            </a:r>
            <a:r>
              <a:rPr lang="en-US" sz="2400" dirty="0">
                <a:latin typeface="Franklin Gothic Book" panose="020B0503020102020204" pitchFamily="34" charset="0"/>
              </a:rPr>
              <a:t>.</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636000"/>
            <a:ext cx="10515600" cy="4251960"/>
          </a:xfrm>
        </p:spPr>
        <p:txBody>
          <a:bodyPr vert="horz" lIns="91440" tIns="45720" rIns="91440" bIns="45720" rtlCol="0" anchor="t">
            <a:noAutofit/>
          </a:bodyPr>
          <a:lstStyle/>
          <a:p>
            <a:pPr marL="305435" indent="-305435" algn="just">
              <a:lnSpc>
                <a:spcPct val="100000"/>
              </a:lnSpc>
              <a:spcBef>
                <a:spcPct val="20000"/>
              </a:spcBef>
              <a:spcAft>
                <a:spcPts val="600"/>
              </a:spcAft>
              <a:buFont typeface="Arial"/>
              <a:buChar char="•"/>
            </a:pPr>
            <a:r>
              <a:rPr lang="en-US" sz="2200" dirty="0">
                <a:latin typeface="Franklin Gothic Book" panose="020B0503020102020204" pitchFamily="34" charset="0"/>
              </a:rPr>
              <a:t>The proposed system introduces an </a:t>
            </a:r>
            <a:r>
              <a:rPr lang="en-US" sz="2200" b="1" dirty="0">
                <a:latin typeface="Franklin Gothic Book" panose="020B0503020102020204" pitchFamily="34" charset="0"/>
              </a:rPr>
              <a:t>HR Analytics and Attrition Dashboard using Power BI</a:t>
            </a:r>
            <a:r>
              <a:rPr lang="en-US" sz="2200" dirty="0">
                <a:latin typeface="Franklin Gothic Book" panose="020B0503020102020204" pitchFamily="34" charset="0"/>
              </a:rPr>
              <a:t> with a </a:t>
            </a:r>
            <a:r>
              <a:rPr lang="en-US" sz="2200" b="1" dirty="0">
                <a:latin typeface="Franklin Gothic Book" panose="020B0503020102020204" pitchFamily="34" charset="0"/>
              </a:rPr>
              <a:t>Rule-Based Attrition Risk Prediction</a:t>
            </a:r>
            <a:r>
              <a:rPr lang="en-US" sz="2200" dirty="0">
                <a:latin typeface="Franklin Gothic Book" panose="020B0503020102020204" pitchFamily="34" charset="0"/>
              </a:rPr>
              <a:t> approach. The system evaluates employee data using predefined HR rules based on factors such as years of experience, salary hike, job satisfaction, overtime, and distance from home. Each risk factor contributes to a risk score, and employees are classified into </a:t>
            </a:r>
            <a:r>
              <a:rPr lang="en-US" sz="2200" b="1" dirty="0">
                <a:latin typeface="Franklin Gothic Book" panose="020B0503020102020204" pitchFamily="34" charset="0"/>
              </a:rPr>
              <a:t>Low, Medium, and High Attrition Risk</a:t>
            </a:r>
            <a:r>
              <a:rPr lang="en-US" sz="2200" dirty="0">
                <a:latin typeface="Franklin Gothic Book" panose="020B0503020102020204" pitchFamily="34" charset="0"/>
              </a:rPr>
              <a:t> categories. This rule-based approach is simple, transparent, and easy to understand, enabling HR teams to proactively identify high-risk employees and support data-driven retention decisions through interactive dashboard visualizations.</a:t>
            </a:r>
            <a:endParaRPr lang="en-GB" sz="2200" dirty="0">
              <a:latin typeface="Franklin Gothic Book" panose="020B0503020102020204" pitchFamily="34" charset="0"/>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424985" y="1488141"/>
            <a:ext cx="10515600" cy="4876800"/>
          </a:xfrm>
        </p:spPr>
        <p:txBody>
          <a:bodyPr vert="horz" lIns="91440" tIns="45720" rIns="91440" bIns="45720" rtlCol="0">
            <a:normAutofit fontScale="77500" lnSpcReduction="20000"/>
          </a:bodyPr>
          <a:lstStyle/>
          <a:p>
            <a:pPr marL="0" indent="0">
              <a:lnSpc>
                <a:spcPct val="120000"/>
              </a:lnSpc>
              <a:buNone/>
            </a:pPr>
            <a:r>
              <a:rPr lang="en-US" b="1" dirty="0">
                <a:latin typeface="Franklin Gothic Book" panose="020B0503020102020204" pitchFamily="34" charset="0"/>
              </a:rPr>
              <a:t>Tools &amp; Technologies:</a:t>
            </a:r>
          </a:p>
          <a:p>
            <a:pPr>
              <a:lnSpc>
                <a:spcPct val="120000"/>
              </a:lnSpc>
              <a:buFont typeface="Arial" panose="020B0604020202020204" pitchFamily="34" charset="0"/>
              <a:buChar char="•"/>
            </a:pPr>
            <a:r>
              <a:rPr lang="en-US" b="1" dirty="0">
                <a:latin typeface="Franklin Gothic Book" panose="020B0503020102020204" pitchFamily="34" charset="0"/>
              </a:rPr>
              <a:t>Power BI Desktop</a:t>
            </a:r>
            <a:r>
              <a:rPr lang="en-US" dirty="0">
                <a:latin typeface="Franklin Gothic Book" panose="020B0503020102020204" pitchFamily="34" charset="0"/>
              </a:rPr>
              <a:t> – Data modeling, DAX calculations, and dashboard creation</a:t>
            </a:r>
          </a:p>
          <a:p>
            <a:pPr>
              <a:lnSpc>
                <a:spcPct val="120000"/>
              </a:lnSpc>
              <a:buFont typeface="Arial" panose="020B0604020202020204" pitchFamily="34" charset="0"/>
              <a:buChar char="•"/>
            </a:pPr>
            <a:r>
              <a:rPr lang="en-US" b="1" dirty="0">
                <a:latin typeface="Franklin Gothic Book" panose="020B0503020102020204" pitchFamily="34" charset="0"/>
              </a:rPr>
              <a:t>Microsoft Excel / CSV Dataset</a:t>
            </a:r>
            <a:r>
              <a:rPr lang="en-US" dirty="0">
                <a:latin typeface="Franklin Gothic Book" panose="020B0503020102020204" pitchFamily="34" charset="0"/>
              </a:rPr>
              <a:t> – Data source</a:t>
            </a:r>
          </a:p>
          <a:p>
            <a:pPr>
              <a:lnSpc>
                <a:spcPct val="120000"/>
              </a:lnSpc>
              <a:buFont typeface="Arial" panose="020B0604020202020204" pitchFamily="34" charset="0"/>
              <a:buChar char="•"/>
            </a:pPr>
            <a:r>
              <a:rPr lang="en-US" b="1" dirty="0">
                <a:latin typeface="Franklin Gothic Book" panose="020B0503020102020204" pitchFamily="34" charset="0"/>
              </a:rPr>
              <a:t>DAX (Data Analysis Expressions)</a:t>
            </a:r>
            <a:r>
              <a:rPr lang="en-US" dirty="0">
                <a:latin typeface="Franklin Gothic Book" panose="020B0503020102020204" pitchFamily="34" charset="0"/>
              </a:rPr>
              <a:t> – Risk scoring logic and KPIs</a:t>
            </a:r>
          </a:p>
          <a:p>
            <a:pPr marL="0" indent="0">
              <a:lnSpc>
                <a:spcPct val="120000"/>
              </a:lnSpc>
              <a:buNone/>
            </a:pPr>
            <a:r>
              <a:rPr lang="en-US" b="1" dirty="0">
                <a:latin typeface="Franklin Gothic Book" panose="020B0503020102020204" pitchFamily="34" charset="0"/>
              </a:rPr>
              <a:t>Development Approach:</a:t>
            </a:r>
          </a:p>
          <a:p>
            <a:pPr>
              <a:lnSpc>
                <a:spcPct val="120000"/>
              </a:lnSpc>
              <a:buFont typeface="+mj-lt"/>
              <a:buAutoNum type="arabicPeriod"/>
            </a:pPr>
            <a:r>
              <a:rPr lang="en-US" dirty="0">
                <a:latin typeface="Franklin Gothic Book" panose="020B0503020102020204" pitchFamily="34" charset="0"/>
              </a:rPr>
              <a:t>Data collection and cleaning</a:t>
            </a:r>
          </a:p>
          <a:p>
            <a:pPr>
              <a:lnSpc>
                <a:spcPct val="120000"/>
              </a:lnSpc>
              <a:buFont typeface="+mj-lt"/>
              <a:buAutoNum type="arabicPeriod"/>
            </a:pPr>
            <a:r>
              <a:rPr lang="en-US" dirty="0">
                <a:latin typeface="Franklin Gothic Book" panose="020B0503020102020204" pitchFamily="34" charset="0"/>
              </a:rPr>
              <a:t>Data modeling in Power BI</a:t>
            </a:r>
          </a:p>
          <a:p>
            <a:pPr>
              <a:lnSpc>
                <a:spcPct val="120000"/>
              </a:lnSpc>
              <a:buFont typeface="+mj-lt"/>
              <a:buAutoNum type="arabicPeriod"/>
            </a:pPr>
            <a:r>
              <a:rPr lang="en-US" dirty="0">
                <a:latin typeface="Franklin Gothic Book" panose="020B0503020102020204" pitchFamily="34" charset="0"/>
              </a:rPr>
              <a:t>Creation of calculated columns and measures</a:t>
            </a:r>
          </a:p>
          <a:p>
            <a:pPr>
              <a:lnSpc>
                <a:spcPct val="120000"/>
              </a:lnSpc>
              <a:buFont typeface="+mj-lt"/>
              <a:buAutoNum type="arabicPeriod"/>
            </a:pPr>
            <a:r>
              <a:rPr lang="en-US" dirty="0">
                <a:latin typeface="Franklin Gothic Book" panose="020B0503020102020204" pitchFamily="34" charset="0"/>
              </a:rPr>
              <a:t>Design of interactive dashboards</a:t>
            </a:r>
          </a:p>
          <a:p>
            <a:pPr>
              <a:lnSpc>
                <a:spcPct val="120000"/>
              </a:lnSpc>
              <a:buFont typeface="+mj-lt"/>
              <a:buAutoNum type="arabicPeriod"/>
            </a:pPr>
            <a:r>
              <a:rPr lang="en-US" dirty="0">
                <a:latin typeface="Franklin Gothic Book" panose="020B0503020102020204" pitchFamily="34" charset="0"/>
              </a:rPr>
              <a:t>Validation of results through visuals</a:t>
            </a:r>
          </a:p>
          <a:p>
            <a:pPr marL="0" indent="0">
              <a:spcBef>
                <a:spcPct val="20000"/>
              </a:spcBef>
              <a:spcAft>
                <a:spcPts val="600"/>
              </a:spcAft>
              <a:buNone/>
            </a:pP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21876" y="1349375"/>
            <a:ext cx="10515600" cy="4945146"/>
          </a:xfrm>
        </p:spPr>
        <p:txBody>
          <a:bodyPr vert="horz" lIns="91440" tIns="45720" rIns="91440" bIns="45720" rtlCol="0">
            <a:noAutofit/>
          </a:bodyPr>
          <a:lstStyle/>
          <a:p>
            <a:pPr marL="0" indent="0" algn="just">
              <a:lnSpc>
                <a:spcPct val="100000"/>
              </a:lnSpc>
              <a:buNone/>
            </a:pPr>
            <a:r>
              <a:rPr lang="en-US" sz="2200" b="1" dirty="0">
                <a:latin typeface="Franklin Gothic Book" panose="020B0503020102020204" pitchFamily="34" charset="0"/>
              </a:rPr>
              <a:t>Attrition Risk Scoring (Rule-Based):</a:t>
            </a:r>
            <a:endParaRPr lang="en-US" sz="2200" dirty="0">
              <a:latin typeface="Franklin Gothic Book" panose="020B0503020102020204" pitchFamily="34" charset="0"/>
            </a:endParaRPr>
          </a:p>
          <a:p>
            <a:pPr algn="just">
              <a:lnSpc>
                <a:spcPct val="100000"/>
              </a:lnSpc>
              <a:buFont typeface="Arial" panose="020B0604020202020204" pitchFamily="34" charset="0"/>
              <a:buChar char="•"/>
            </a:pPr>
            <a:r>
              <a:rPr lang="en-US" sz="2200" dirty="0">
                <a:latin typeface="Franklin Gothic Book" panose="020B0503020102020204" pitchFamily="34" charset="0"/>
              </a:rPr>
              <a:t>HR factors used: </a:t>
            </a:r>
            <a:r>
              <a:rPr lang="en-US" sz="2200" i="1" dirty="0">
                <a:latin typeface="Franklin Gothic Book" panose="020B0503020102020204" pitchFamily="34" charset="0"/>
              </a:rPr>
              <a:t>Years at Company, Salary Hike, Job Satisfaction, Overtime, Distance from Home</a:t>
            </a:r>
            <a:endParaRPr lang="en-US" sz="2200" dirty="0">
              <a:latin typeface="Franklin Gothic Book" panose="020B0503020102020204" pitchFamily="34" charset="0"/>
            </a:endParaRPr>
          </a:p>
          <a:p>
            <a:pPr algn="just">
              <a:lnSpc>
                <a:spcPct val="100000"/>
              </a:lnSpc>
              <a:buFont typeface="Arial" panose="020B0604020202020204" pitchFamily="34" charset="0"/>
              <a:buChar char="•"/>
            </a:pPr>
            <a:r>
              <a:rPr lang="en-US" sz="2200" b="1" dirty="0">
                <a:latin typeface="Franklin Gothic Book" panose="020B0503020102020204" pitchFamily="34" charset="0"/>
              </a:rPr>
              <a:t>1 risk point</a:t>
            </a:r>
            <a:r>
              <a:rPr lang="en-US" sz="2200" dirty="0">
                <a:latin typeface="Franklin Gothic Book" panose="020B0503020102020204" pitchFamily="34" charset="0"/>
              </a:rPr>
              <a:t> assigned for each risk condition met</a:t>
            </a:r>
          </a:p>
          <a:p>
            <a:pPr algn="just">
              <a:lnSpc>
                <a:spcPct val="100000"/>
              </a:lnSpc>
              <a:buFont typeface="Arial" panose="020B0604020202020204" pitchFamily="34" charset="0"/>
              <a:buChar char="•"/>
            </a:pPr>
            <a:r>
              <a:rPr lang="en-US" sz="2200" dirty="0">
                <a:latin typeface="Franklin Gothic Book" panose="020B0503020102020204" pitchFamily="34" charset="0"/>
              </a:rPr>
              <a:t>Total risk score calculated per employee</a:t>
            </a:r>
          </a:p>
          <a:p>
            <a:pPr algn="just">
              <a:lnSpc>
                <a:spcPct val="100000"/>
              </a:lnSpc>
              <a:buFont typeface="Arial" panose="020B0604020202020204" pitchFamily="34" charset="0"/>
              <a:buChar char="•"/>
            </a:pPr>
            <a:r>
              <a:rPr lang="en-US" sz="2200" dirty="0">
                <a:latin typeface="Franklin Gothic Book" panose="020B0503020102020204" pitchFamily="34" charset="0"/>
              </a:rPr>
              <a:t>Risk Levels:</a:t>
            </a:r>
          </a:p>
          <a:p>
            <a:pPr marL="742950" lvl="1" indent="-285750" algn="just">
              <a:lnSpc>
                <a:spcPct val="100000"/>
              </a:lnSpc>
              <a:buFont typeface="Arial" panose="020B0604020202020204" pitchFamily="34" charset="0"/>
              <a:buChar char="•"/>
            </a:pPr>
            <a:r>
              <a:rPr lang="en-US" sz="2200" b="1" dirty="0">
                <a:latin typeface="Franklin Gothic Book" panose="020B0503020102020204" pitchFamily="34" charset="0"/>
              </a:rPr>
              <a:t>0–1:</a:t>
            </a:r>
            <a:r>
              <a:rPr lang="en-US" sz="2200" dirty="0">
                <a:latin typeface="Franklin Gothic Book" panose="020B0503020102020204" pitchFamily="34" charset="0"/>
              </a:rPr>
              <a:t> Low Risk        </a:t>
            </a:r>
            <a:r>
              <a:rPr lang="en-US" sz="2200" b="1" dirty="0">
                <a:latin typeface="Franklin Gothic Book" panose="020B0503020102020204" pitchFamily="34" charset="0"/>
              </a:rPr>
              <a:t>2:</a:t>
            </a:r>
            <a:r>
              <a:rPr lang="en-US" sz="2200" dirty="0">
                <a:latin typeface="Franklin Gothic Book" panose="020B0503020102020204" pitchFamily="34" charset="0"/>
              </a:rPr>
              <a:t> Medium Risk        </a:t>
            </a:r>
            <a:r>
              <a:rPr lang="en-US" sz="2200" b="1" dirty="0">
                <a:latin typeface="Franklin Gothic Book" panose="020B0503020102020204" pitchFamily="34" charset="0"/>
              </a:rPr>
              <a:t>3+:</a:t>
            </a:r>
            <a:r>
              <a:rPr lang="en-US" sz="2200" dirty="0">
                <a:latin typeface="Franklin Gothic Book" panose="020B0503020102020204" pitchFamily="34" charset="0"/>
              </a:rPr>
              <a:t> High Risk</a:t>
            </a:r>
          </a:p>
          <a:p>
            <a:pPr marL="0" indent="0" algn="just">
              <a:lnSpc>
                <a:spcPct val="100000"/>
              </a:lnSpc>
              <a:buNone/>
            </a:pPr>
            <a:r>
              <a:rPr lang="en-US" sz="2200" b="1" dirty="0">
                <a:latin typeface="Franklin Gothic Book" panose="020B0503020102020204" pitchFamily="34" charset="0"/>
              </a:rPr>
              <a:t>Deployment:</a:t>
            </a:r>
            <a:endParaRPr lang="en-US" sz="2200" dirty="0">
              <a:latin typeface="Franklin Gothic Book" panose="020B0503020102020204" pitchFamily="34" charset="0"/>
            </a:endParaRPr>
          </a:p>
          <a:p>
            <a:pPr algn="just">
              <a:lnSpc>
                <a:spcPct val="100000"/>
              </a:lnSpc>
              <a:buFont typeface="Arial" panose="020B0604020202020204" pitchFamily="34" charset="0"/>
              <a:buChar char="•"/>
            </a:pPr>
            <a:r>
              <a:rPr lang="en-US" sz="2200" dirty="0">
                <a:latin typeface="Franklin Gothic Book" panose="020B0503020102020204" pitchFamily="34" charset="0"/>
              </a:rPr>
              <a:t>Dashboard developed in </a:t>
            </a:r>
            <a:r>
              <a:rPr lang="en-US" sz="2200" b="1" dirty="0">
                <a:latin typeface="Franklin Gothic Book" panose="020B0503020102020204" pitchFamily="34" charset="0"/>
              </a:rPr>
              <a:t>Power BI Desktop</a:t>
            </a:r>
            <a:endParaRPr lang="en-US" sz="2200" dirty="0">
              <a:latin typeface="Franklin Gothic Book" panose="020B0503020102020204" pitchFamily="34" charset="0"/>
            </a:endParaRPr>
          </a:p>
          <a:p>
            <a:pPr algn="just">
              <a:lnSpc>
                <a:spcPct val="100000"/>
              </a:lnSpc>
              <a:buFont typeface="Arial" panose="020B0604020202020204" pitchFamily="34" charset="0"/>
              <a:buChar char="•"/>
            </a:pPr>
            <a:r>
              <a:rPr lang="en-US" sz="2200" dirty="0">
                <a:latin typeface="Franklin Gothic Book" panose="020B0503020102020204" pitchFamily="34" charset="0"/>
              </a:rPr>
              <a:t>Can be published to </a:t>
            </a:r>
            <a:r>
              <a:rPr lang="en-US" sz="2200" b="1" dirty="0">
                <a:latin typeface="Franklin Gothic Book" panose="020B0503020102020204" pitchFamily="34" charset="0"/>
              </a:rPr>
              <a:t>Power BI Service</a:t>
            </a:r>
            <a:r>
              <a:rPr lang="en-US" sz="2200" dirty="0">
                <a:latin typeface="Franklin Gothic Book" panose="020B0503020102020204" pitchFamily="34" charset="0"/>
              </a:rPr>
              <a:t> for organizational access</a:t>
            </a:r>
          </a:p>
          <a:p>
            <a:pPr marL="305435" indent="-305435">
              <a:spcBef>
                <a:spcPct val="20000"/>
              </a:spcBef>
              <a:spcAft>
                <a:spcPts val="600"/>
              </a:spcAft>
              <a:buFont typeface="Arial"/>
              <a:buChar char="•"/>
            </a:pPr>
            <a:endParaRPr lang="en-GB" sz="18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584103"/>
            <a:ext cx="10515600" cy="4251960"/>
          </a:xfrm>
        </p:spPr>
        <p:txBody>
          <a:bodyPr vert="horz" lIns="91440" tIns="45720" rIns="91440" bIns="45720" rtlCol="0">
            <a:norm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Franklin Gothic Book" panose="020B0503020102020204" pitchFamily="34" charset="0"/>
              </a:rPr>
              <a:t>Built an </a:t>
            </a:r>
            <a:r>
              <a:rPr kumimoji="0" lang="en-US" altLang="en-US" sz="2200" b="1" i="0" u="none" strike="noStrike" cap="none" normalizeH="0" baseline="0" dirty="0">
                <a:ln>
                  <a:noFill/>
                </a:ln>
                <a:solidFill>
                  <a:schemeClr val="tx1"/>
                </a:solidFill>
                <a:effectLst/>
                <a:latin typeface="Franklin Gothic Book" panose="020B0503020102020204" pitchFamily="34" charset="0"/>
              </a:rPr>
              <a:t>interactive HR Attrition Dashboard</a:t>
            </a:r>
            <a:r>
              <a:rPr kumimoji="0" lang="en-US" altLang="en-US" sz="2200" b="0" i="0" u="none" strike="noStrike" cap="none" normalizeH="0" baseline="0" dirty="0">
                <a:ln>
                  <a:noFill/>
                </a:ln>
                <a:solidFill>
                  <a:schemeClr val="tx1"/>
                </a:solidFill>
                <a:effectLst/>
                <a:latin typeface="Franklin Gothic Book" panose="020B0503020102020204" pitchFamily="34" charset="0"/>
              </a:rPr>
              <a:t> using Power BI</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Franklin Gothic Book" panose="020B0503020102020204" pitchFamily="34" charset="0"/>
              </a:rPr>
              <a:t>Employees are grouped into </a:t>
            </a:r>
            <a:r>
              <a:rPr kumimoji="0" lang="en-US" altLang="en-US" sz="2200" b="1" i="0" u="none" strike="noStrike" cap="none" normalizeH="0" baseline="0" dirty="0">
                <a:ln>
                  <a:noFill/>
                </a:ln>
                <a:solidFill>
                  <a:schemeClr val="tx1"/>
                </a:solidFill>
                <a:effectLst/>
                <a:latin typeface="Franklin Gothic Book" panose="020B0503020102020204" pitchFamily="34" charset="0"/>
              </a:rPr>
              <a:t>Low, Medium, and High Attrition Risk</a:t>
            </a:r>
            <a:endParaRPr kumimoji="0" lang="en-US" altLang="en-US" sz="2200" b="0" i="0" u="none" strike="noStrike" cap="none" normalizeH="0" baseline="0" dirty="0">
              <a:ln>
                <a:noFill/>
              </a:ln>
              <a:solidFill>
                <a:schemeClr val="tx1"/>
              </a:solidFill>
              <a:effectLst/>
              <a:latin typeface="Franklin Gothic Book" panose="020B05030201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Franklin Gothic Book" panose="020B0503020102020204" pitchFamily="34" charset="0"/>
              </a:rPr>
              <a:t>HR can quickly </a:t>
            </a:r>
            <a:r>
              <a:rPr kumimoji="0" lang="en-US" altLang="en-US" sz="2200" b="1" i="0" u="none" strike="noStrike" cap="none" normalizeH="0" baseline="0" dirty="0">
                <a:ln>
                  <a:noFill/>
                </a:ln>
                <a:solidFill>
                  <a:schemeClr val="tx1"/>
                </a:solidFill>
                <a:effectLst/>
                <a:latin typeface="Franklin Gothic Book" panose="020B0503020102020204" pitchFamily="34" charset="0"/>
              </a:rPr>
              <a:t>identify high-risk employees</a:t>
            </a:r>
            <a:r>
              <a:rPr kumimoji="0" lang="en-US" altLang="en-US" sz="2200" b="0" i="0" u="none" strike="noStrike" cap="none" normalizeH="0" baseline="0" dirty="0">
                <a:ln>
                  <a:noFill/>
                </a:ln>
                <a:solidFill>
                  <a:schemeClr val="tx1"/>
                </a:solidFill>
                <a:effectLst/>
                <a:latin typeface="Franklin Gothic Book" panose="020B0503020102020204" pitchFamily="34" charset="0"/>
              </a:rPr>
              <a:t> using clear visuals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Franklin Gothic Book" panose="020B0503020102020204" pitchFamily="34" charset="0"/>
              </a:rPr>
              <a:t>Supports </a:t>
            </a:r>
            <a:r>
              <a:rPr kumimoji="0" lang="en-US" altLang="en-US" sz="2200" b="1" i="0" u="none" strike="noStrike" cap="none" normalizeH="0" baseline="0" dirty="0">
                <a:ln>
                  <a:noFill/>
                </a:ln>
                <a:solidFill>
                  <a:schemeClr val="tx1"/>
                </a:solidFill>
                <a:effectLst/>
                <a:latin typeface="Franklin Gothic Book" panose="020B0503020102020204" pitchFamily="34" charset="0"/>
              </a:rPr>
              <a:t>data-driven and proactive HR decisions</a:t>
            </a:r>
            <a:endParaRPr kumimoji="0" lang="en-US" altLang="en-US" sz="2200" b="0" i="0" u="none" strike="noStrike" cap="none" normalizeH="0" baseline="0" dirty="0">
              <a:ln>
                <a:noFill/>
              </a:ln>
              <a:solidFill>
                <a:schemeClr val="tx1"/>
              </a:solidFill>
              <a:effectLst/>
              <a:latin typeface="Franklin Gothic Book" panose="020B0503020102020204" pitchFamily="34" charset="0"/>
            </a:endParaRPr>
          </a:p>
          <a:p>
            <a:pPr marL="0" indent="0">
              <a:buNone/>
            </a:pPr>
            <a:endParaRPr lang="en-US" sz="2200" dirty="0"/>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65EF4-8C3A-4E99-947C-6874B780DA14}"/>
              </a:ext>
            </a:extLst>
          </p:cNvPr>
          <p:cNvSpPr>
            <a:spLocks noGrp="1"/>
          </p:cNvSpPr>
          <p:nvPr>
            <p:ph type="title"/>
          </p:nvPr>
        </p:nvSpPr>
        <p:spPr/>
        <p:txBody>
          <a:bodyPr/>
          <a:lstStyle/>
          <a:p>
            <a:r>
              <a:rPr lang="en-US" dirty="0"/>
              <a:t> </a:t>
            </a:r>
            <a:br>
              <a:rPr lang="en-US" dirty="0"/>
            </a:br>
            <a:endParaRPr lang="en-US" dirty="0"/>
          </a:p>
        </p:txBody>
      </p:sp>
      <p:sp>
        <p:nvSpPr>
          <p:cNvPr id="3" name="Content Placeholder 2">
            <a:extLst>
              <a:ext uri="{FF2B5EF4-FFF2-40B4-BE49-F238E27FC236}">
                <a16:creationId xmlns:a16="http://schemas.microsoft.com/office/drawing/2014/main" id="{A501CCD6-6493-4314-8FB9-B9E3E12C3419}"/>
              </a:ext>
            </a:extLst>
          </p:cNvPr>
          <p:cNvSpPr>
            <a:spLocks noGrp="1"/>
          </p:cNvSpPr>
          <p:nvPr>
            <p:ph idx="1"/>
          </p:nvPr>
        </p:nvSpPr>
        <p:spPr/>
        <p:txBody>
          <a:bodyPr/>
          <a:lstStyle/>
          <a:p>
            <a:pPr marL="0" indent="0">
              <a:buNone/>
            </a:pPr>
            <a:r>
              <a:rPr lang="en-US" dirty="0"/>
              <a:t> </a:t>
            </a:r>
          </a:p>
          <a:p>
            <a:pPr marL="0" indent="0">
              <a:buNone/>
            </a:pPr>
            <a:r>
              <a:rPr lang="en-US" dirty="0"/>
              <a:t> </a:t>
            </a:r>
          </a:p>
          <a:p>
            <a:endParaRPr lang="en-US" dirty="0"/>
          </a:p>
        </p:txBody>
      </p:sp>
      <p:sp>
        <p:nvSpPr>
          <p:cNvPr id="5" name="TextBox 4">
            <a:extLst>
              <a:ext uri="{FF2B5EF4-FFF2-40B4-BE49-F238E27FC236}">
                <a16:creationId xmlns:a16="http://schemas.microsoft.com/office/drawing/2014/main" id="{7F344589-4A35-4629-B64B-50DB0CF993E5}"/>
              </a:ext>
            </a:extLst>
          </p:cNvPr>
          <p:cNvSpPr txBox="1"/>
          <p:nvPr/>
        </p:nvSpPr>
        <p:spPr>
          <a:xfrm>
            <a:off x="125506" y="142546"/>
            <a:ext cx="2043953" cy="523220"/>
          </a:xfrm>
          <a:prstGeom prst="rect">
            <a:avLst/>
          </a:prstGeom>
          <a:noFill/>
        </p:spPr>
        <p:txBody>
          <a:bodyPr wrap="square">
            <a:spAutoFit/>
          </a:bodyPr>
          <a:lstStyle/>
          <a:p>
            <a:r>
              <a:rPr lang="en-US" sz="2800" b="1" cap="all" dirty="0">
                <a:latin typeface="Arial"/>
                <a:cs typeface="Arial"/>
              </a:rPr>
              <a:t>Result:</a:t>
            </a:r>
            <a:endParaRPr lang="en-US" sz="2800" dirty="0"/>
          </a:p>
        </p:txBody>
      </p:sp>
      <p:pic>
        <p:nvPicPr>
          <p:cNvPr id="7" name="Picture 6">
            <a:extLst>
              <a:ext uri="{FF2B5EF4-FFF2-40B4-BE49-F238E27FC236}">
                <a16:creationId xmlns:a16="http://schemas.microsoft.com/office/drawing/2014/main" id="{F3E0CE88-FD25-481C-B97F-06A9E7771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588" y="878540"/>
            <a:ext cx="11067393" cy="5560779"/>
          </a:xfrm>
          <a:prstGeom prst="rect">
            <a:avLst/>
          </a:prstGeom>
        </p:spPr>
      </p:pic>
    </p:spTree>
    <p:extLst>
      <p:ext uri="{BB962C8B-B14F-4D97-AF65-F5344CB8AC3E}">
        <p14:creationId xmlns:p14="http://schemas.microsoft.com/office/powerpoint/2010/main" val="68444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BB4F-590A-46D1-9D01-0D39DE552FFE}"/>
              </a:ext>
            </a:extLst>
          </p:cNvPr>
          <p:cNvSpPr>
            <a:spLocks noGrp="1"/>
          </p:cNvSpPr>
          <p:nvPr>
            <p:ph type="title"/>
          </p:nvPr>
        </p:nvSpPr>
        <p:spPr/>
        <p:txBody>
          <a:bodyPr/>
          <a:lstStyle/>
          <a:p>
            <a:r>
              <a:rPr lang="en-US" dirty="0"/>
              <a:t> </a:t>
            </a:r>
            <a:br>
              <a:rPr lang="en-US" dirty="0"/>
            </a:br>
            <a:endParaRPr lang="en-US" dirty="0"/>
          </a:p>
        </p:txBody>
      </p:sp>
      <p:sp>
        <p:nvSpPr>
          <p:cNvPr id="3" name="Content Placeholder 2">
            <a:extLst>
              <a:ext uri="{FF2B5EF4-FFF2-40B4-BE49-F238E27FC236}">
                <a16:creationId xmlns:a16="http://schemas.microsoft.com/office/drawing/2014/main" id="{6D6B7794-9B45-4AC6-8812-AB02D32EBB2B}"/>
              </a:ext>
            </a:extLst>
          </p:cNvPr>
          <p:cNvSpPr>
            <a:spLocks noGrp="1"/>
          </p:cNvSpPr>
          <p:nvPr>
            <p:ph idx="1"/>
          </p:nvPr>
        </p:nvSpPr>
        <p:spPr/>
        <p:txBody>
          <a:bodyPr/>
          <a:lstStyle/>
          <a:p>
            <a:pPr marL="0" indent="0">
              <a:buNone/>
            </a:pPr>
            <a:r>
              <a:rPr lang="en-US" dirty="0"/>
              <a:t> </a:t>
            </a:r>
          </a:p>
          <a:p>
            <a:pPr marL="0" indent="0">
              <a:buNone/>
            </a:pPr>
            <a:endParaRPr lang="en-US" dirty="0"/>
          </a:p>
        </p:txBody>
      </p:sp>
      <p:sp>
        <p:nvSpPr>
          <p:cNvPr id="5" name="TextBox 4">
            <a:extLst>
              <a:ext uri="{FF2B5EF4-FFF2-40B4-BE49-F238E27FC236}">
                <a16:creationId xmlns:a16="http://schemas.microsoft.com/office/drawing/2014/main" id="{7E720F4E-9E44-471F-B14B-13B97EC81001}"/>
              </a:ext>
            </a:extLst>
          </p:cNvPr>
          <p:cNvSpPr txBox="1"/>
          <p:nvPr/>
        </p:nvSpPr>
        <p:spPr>
          <a:xfrm>
            <a:off x="170330" y="88757"/>
            <a:ext cx="3155576" cy="523220"/>
          </a:xfrm>
          <a:prstGeom prst="rect">
            <a:avLst/>
          </a:prstGeom>
          <a:noFill/>
        </p:spPr>
        <p:txBody>
          <a:bodyPr wrap="square">
            <a:spAutoFit/>
          </a:bodyPr>
          <a:lstStyle/>
          <a:p>
            <a:r>
              <a:rPr lang="en-US" sz="2800" b="1" cap="all" dirty="0">
                <a:latin typeface="Arial"/>
                <a:cs typeface="Arial"/>
              </a:rPr>
              <a:t>Result:</a:t>
            </a:r>
            <a:endParaRPr lang="en-US" sz="2800" dirty="0"/>
          </a:p>
        </p:txBody>
      </p:sp>
      <p:pic>
        <p:nvPicPr>
          <p:cNvPr id="7" name="Picture 6">
            <a:extLst>
              <a:ext uri="{FF2B5EF4-FFF2-40B4-BE49-F238E27FC236}">
                <a16:creationId xmlns:a16="http://schemas.microsoft.com/office/drawing/2014/main" id="{B75F42C7-646A-447D-8CF2-6DE166BBB7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706" y="1004047"/>
            <a:ext cx="10809933" cy="5420983"/>
          </a:xfrm>
          <a:prstGeom prst="rect">
            <a:avLst/>
          </a:prstGeom>
        </p:spPr>
      </p:pic>
    </p:spTree>
    <p:extLst>
      <p:ext uri="{BB962C8B-B14F-4D97-AF65-F5344CB8AC3E}">
        <p14:creationId xmlns:p14="http://schemas.microsoft.com/office/powerpoint/2010/main" val="573674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6F2E6-4243-4049-9F7D-1DFDB902638E}"/>
              </a:ext>
            </a:extLst>
          </p:cNvPr>
          <p:cNvSpPr>
            <a:spLocks noGrp="1"/>
          </p:cNvSpPr>
          <p:nvPr>
            <p:ph type="title"/>
          </p:nvPr>
        </p:nvSpPr>
        <p:spPr/>
        <p:txBody>
          <a:bodyPr/>
          <a:lstStyle/>
          <a:p>
            <a:r>
              <a:rPr lang="en-US" dirty="0"/>
              <a:t> </a:t>
            </a:r>
            <a:br>
              <a:rPr lang="en-US" dirty="0"/>
            </a:br>
            <a:endParaRPr lang="en-US" dirty="0"/>
          </a:p>
        </p:txBody>
      </p:sp>
      <p:sp>
        <p:nvSpPr>
          <p:cNvPr id="3" name="Content Placeholder 2">
            <a:extLst>
              <a:ext uri="{FF2B5EF4-FFF2-40B4-BE49-F238E27FC236}">
                <a16:creationId xmlns:a16="http://schemas.microsoft.com/office/drawing/2014/main" id="{95D990AF-1D62-47EC-BEA4-B1A7BC2725FA}"/>
              </a:ext>
            </a:extLst>
          </p:cNvPr>
          <p:cNvSpPr>
            <a:spLocks noGrp="1"/>
          </p:cNvSpPr>
          <p:nvPr>
            <p:ph idx="1"/>
          </p:nvPr>
        </p:nvSpPr>
        <p:spPr/>
        <p:txBody>
          <a:bodyPr/>
          <a:lstStyle/>
          <a:p>
            <a:pPr marL="0" indent="0">
              <a:buNone/>
            </a:pPr>
            <a:r>
              <a:rPr lang="en-US" dirty="0"/>
              <a:t> </a:t>
            </a:r>
          </a:p>
          <a:p>
            <a:pPr marL="0" indent="0">
              <a:buNone/>
            </a:pPr>
            <a:endParaRPr lang="en-US" dirty="0"/>
          </a:p>
        </p:txBody>
      </p:sp>
      <p:sp>
        <p:nvSpPr>
          <p:cNvPr id="4" name="TextBox 3">
            <a:extLst>
              <a:ext uri="{FF2B5EF4-FFF2-40B4-BE49-F238E27FC236}">
                <a16:creationId xmlns:a16="http://schemas.microsoft.com/office/drawing/2014/main" id="{909BFF64-D6C1-42E0-B087-0B017F2EC616}"/>
              </a:ext>
            </a:extLst>
          </p:cNvPr>
          <p:cNvSpPr txBox="1"/>
          <p:nvPr/>
        </p:nvSpPr>
        <p:spPr>
          <a:xfrm>
            <a:off x="170330" y="88757"/>
            <a:ext cx="3155576" cy="523220"/>
          </a:xfrm>
          <a:prstGeom prst="rect">
            <a:avLst/>
          </a:prstGeom>
          <a:noFill/>
        </p:spPr>
        <p:txBody>
          <a:bodyPr wrap="square">
            <a:spAutoFit/>
          </a:bodyPr>
          <a:lstStyle/>
          <a:p>
            <a:r>
              <a:rPr lang="en-US" sz="2800" b="1" cap="all" dirty="0">
                <a:latin typeface="Arial"/>
                <a:cs typeface="Arial"/>
              </a:rPr>
              <a:t>Result:</a:t>
            </a:r>
            <a:endParaRPr lang="en-US" sz="2800" dirty="0"/>
          </a:p>
        </p:txBody>
      </p:sp>
      <p:pic>
        <p:nvPicPr>
          <p:cNvPr id="6" name="Picture 5">
            <a:extLst>
              <a:ext uri="{FF2B5EF4-FFF2-40B4-BE49-F238E27FC236}">
                <a16:creationId xmlns:a16="http://schemas.microsoft.com/office/drawing/2014/main" id="{EC17D188-6E55-4F07-8784-A12E7B8E6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706" y="1066800"/>
            <a:ext cx="10833749" cy="5358230"/>
          </a:xfrm>
          <a:prstGeom prst="rect">
            <a:avLst/>
          </a:prstGeom>
        </p:spPr>
      </p:pic>
    </p:spTree>
    <p:extLst>
      <p:ext uri="{BB962C8B-B14F-4D97-AF65-F5344CB8AC3E}">
        <p14:creationId xmlns:p14="http://schemas.microsoft.com/office/powerpoint/2010/main" val="3190166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lgn="just">
              <a:lnSpc>
                <a:spcPct val="100000"/>
              </a:lnSpc>
              <a:buNone/>
            </a:pPr>
            <a:r>
              <a:rPr lang="en-US" sz="2200" dirty="0">
                <a:latin typeface="Franklin Gothic Book" panose="020B0503020102020204" pitchFamily="34" charset="0"/>
              </a:rPr>
              <a:t>The HR Analytics and Attrition Dashboard successfully provides meaningful insights into employee attrition using a </a:t>
            </a:r>
            <a:r>
              <a:rPr lang="en-US" sz="2200" b="1" dirty="0">
                <a:latin typeface="Franklin Gothic Book" panose="020B0503020102020204" pitchFamily="34" charset="0"/>
              </a:rPr>
              <a:t>rule-based risk prediction approach</a:t>
            </a:r>
            <a:r>
              <a:rPr lang="en-US" sz="2200" dirty="0">
                <a:latin typeface="Franklin Gothic Book" panose="020B0503020102020204" pitchFamily="34" charset="0"/>
              </a:rPr>
              <a:t>. By analyzing key HR factors and visualizing them through Power BI, the system helps HR teams easily identify </a:t>
            </a:r>
            <a:r>
              <a:rPr lang="en-US" sz="2200" b="1" dirty="0">
                <a:latin typeface="Franklin Gothic Book" panose="020B0503020102020204" pitchFamily="34" charset="0"/>
              </a:rPr>
              <a:t>high-risk employees</a:t>
            </a:r>
            <a:r>
              <a:rPr lang="en-US" sz="2200" dirty="0">
                <a:latin typeface="Franklin Gothic Book" panose="020B0503020102020204" pitchFamily="34" charset="0"/>
              </a:rPr>
              <a:t>, understand attrition patterns, and support </a:t>
            </a:r>
            <a:r>
              <a:rPr lang="en-US" sz="2200" b="1" dirty="0">
                <a:latin typeface="Franklin Gothic Book" panose="020B0503020102020204" pitchFamily="34" charset="0"/>
              </a:rPr>
              <a:t>proactive retention strategies</a:t>
            </a:r>
            <a:r>
              <a:rPr lang="en-US" sz="2200" dirty="0">
                <a:latin typeface="Franklin Gothic Book" panose="020B0503020102020204" pitchFamily="34" charset="0"/>
              </a:rPr>
              <a:t>. The solution is simple, transparent, and effective for real-world HR decision-making.</a:t>
            </a:r>
          </a:p>
        </p:txBody>
      </p:sp>
    </p:spTree>
    <p:extLst>
      <p:ext uri="{BB962C8B-B14F-4D97-AF65-F5344CB8AC3E}">
        <p14:creationId xmlns:p14="http://schemas.microsoft.com/office/powerpoint/2010/main" val="2245309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lgn="just">
              <a:lnSpc>
                <a:spcPct val="100000"/>
              </a:lnSpc>
              <a:spcBef>
                <a:spcPct val="20000"/>
              </a:spcBef>
              <a:spcAft>
                <a:spcPts val="600"/>
              </a:spcAft>
              <a:buNone/>
            </a:pPr>
            <a:endParaRPr lang="en-US" sz="2200" dirty="0">
              <a:latin typeface="Franklin Gothic Book" panose="020B0503020102020204" pitchFamily="34" charset="0"/>
            </a:endParaRPr>
          </a:p>
          <a:p>
            <a:pPr marL="0" indent="0" algn="just">
              <a:lnSpc>
                <a:spcPct val="100000"/>
              </a:lnSpc>
              <a:spcBef>
                <a:spcPct val="20000"/>
              </a:spcBef>
              <a:spcAft>
                <a:spcPts val="600"/>
              </a:spcAft>
              <a:buNone/>
            </a:pPr>
            <a:r>
              <a:rPr lang="en-US" sz="2200" dirty="0">
                <a:latin typeface="Franklin Gothic Book" panose="020B0503020102020204" pitchFamily="34" charset="0"/>
              </a:rPr>
              <a:t>In the future, the HR Analytics and Attrition Dashboard can be enhanced by integrating </a:t>
            </a:r>
            <a:r>
              <a:rPr lang="en-US" sz="2200" b="1" dirty="0">
                <a:latin typeface="Franklin Gothic Book" panose="020B0503020102020204" pitchFamily="34" charset="0"/>
              </a:rPr>
              <a:t>machine learning models</a:t>
            </a:r>
            <a:r>
              <a:rPr lang="en-US" sz="2200" dirty="0">
                <a:latin typeface="Franklin Gothic Book" panose="020B0503020102020204" pitchFamily="34" charset="0"/>
              </a:rPr>
              <a:t> to predict attrition more accurately. Additional HR factors such as </a:t>
            </a:r>
            <a:r>
              <a:rPr lang="en-US" sz="2200" b="1" dirty="0">
                <a:latin typeface="Franklin Gothic Book" panose="020B0503020102020204" pitchFamily="34" charset="0"/>
              </a:rPr>
              <a:t>performance ratings, training hours, and employee engagement scores</a:t>
            </a:r>
            <a:r>
              <a:rPr lang="en-US" sz="2200" dirty="0">
                <a:latin typeface="Franklin Gothic Book" panose="020B0503020102020204" pitchFamily="34" charset="0"/>
              </a:rPr>
              <a:t> can be included for deeper analysis. The dashboard can also be deployed on </a:t>
            </a:r>
            <a:r>
              <a:rPr lang="en-US" sz="2200" b="1" dirty="0">
                <a:latin typeface="Franklin Gothic Book" panose="020B0503020102020204" pitchFamily="34" charset="0"/>
              </a:rPr>
              <a:t>Power BI Service</a:t>
            </a:r>
            <a:r>
              <a:rPr lang="en-US" sz="2200" dirty="0">
                <a:latin typeface="Franklin Gothic Book" panose="020B0503020102020204" pitchFamily="34" charset="0"/>
              </a:rPr>
              <a:t> for real-time monitoring and automated alerts, enabling HR teams to take </a:t>
            </a:r>
            <a:r>
              <a:rPr lang="en-US" sz="2200" b="1" dirty="0">
                <a:latin typeface="Franklin Gothic Book" panose="020B0503020102020204" pitchFamily="34" charset="0"/>
              </a:rPr>
              <a:t>faster and more proactive retention actions</a:t>
            </a:r>
            <a:r>
              <a:rPr lang="en-US" sz="2200" dirty="0">
                <a:latin typeface="Franklin Gothic Book" panose="020B0503020102020204" pitchFamily="34" charset="0"/>
              </a:rPr>
              <a:t>.</a:t>
            </a:r>
            <a:endParaRPr lang="en-GB" sz="2200" dirty="0">
              <a:latin typeface="Franklin Gothic Book" panose="020B0503020102020204" pitchFamily="34" charset="0"/>
            </a:endParaRPr>
          </a:p>
          <a:p>
            <a:pPr marL="0" indent="0" algn="just">
              <a:lnSpc>
                <a:spcPct val="100000"/>
              </a:lnSpc>
              <a:buNone/>
            </a:pPr>
            <a:endParaRPr lang="en-GB" sz="2200" dirty="0">
              <a:latin typeface="Franklin Gothic Book" panose="020B0503020102020204" pitchFamily="34" charset="0"/>
            </a:endParaRPr>
          </a:p>
        </p:txBody>
      </p:sp>
    </p:spTree>
    <p:extLst>
      <p:ext uri="{BB962C8B-B14F-4D97-AF65-F5344CB8AC3E}">
        <p14:creationId xmlns:p14="http://schemas.microsoft.com/office/powerpoint/2010/main" val="374419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r>
              <a:rPr lang="en-IN" sz="2200" dirty="0">
                <a:latin typeface="Franklin Gothic Book"/>
                <a:hlinkClick r:id="rId2"/>
              </a:rPr>
              <a:t> https://ieeexplore.ieee.org/document/11216811</a:t>
            </a:r>
            <a:endParaRPr lang="en-IN" sz="2200" dirty="0">
              <a:latin typeface="Franklin Gothic Book"/>
            </a:endParaRPr>
          </a:p>
          <a:p>
            <a:r>
              <a:rPr lang="en-IN" sz="2200" dirty="0">
                <a:latin typeface="Franklin Gothic Book"/>
              </a:rPr>
              <a:t> </a:t>
            </a:r>
            <a:r>
              <a:rPr lang="en-IN" sz="2200" dirty="0">
                <a:latin typeface="Franklin Gothic Book"/>
                <a:hlinkClick r:id="rId3"/>
              </a:rPr>
              <a:t>https://ieeexplore.ieee.org/document/11089919</a:t>
            </a:r>
            <a:endParaRPr lang="en-IN" sz="2200" dirty="0">
              <a:latin typeface="Franklin Gothic Book"/>
            </a:endParaRPr>
          </a:p>
          <a:p>
            <a:r>
              <a:rPr lang="en-IN" sz="2200" dirty="0">
                <a:latin typeface="Franklin Gothic Book"/>
              </a:rPr>
              <a:t> </a:t>
            </a:r>
            <a:r>
              <a:rPr lang="en-IN" sz="2200" dirty="0">
                <a:latin typeface="Franklin Gothic Book"/>
                <a:hlinkClick r:id="rId4"/>
              </a:rPr>
              <a:t>https://ieeexplore.ieee.org/document/11323687</a:t>
            </a:r>
            <a:endParaRPr lang="en-IN" sz="2200" dirty="0">
              <a:latin typeface="Franklin Gothic Book"/>
            </a:endParaRPr>
          </a:p>
          <a:p>
            <a:endParaRPr lang="en-IN" sz="2200" dirty="0">
              <a:latin typeface="Franklin Gothic Book"/>
            </a:endParaRPr>
          </a:p>
          <a:p>
            <a:pPr marL="0" indent="0">
              <a:buNone/>
            </a:pPr>
            <a:r>
              <a:rPr lang="en-IN" sz="2200" dirty="0">
                <a:latin typeface="Franklin Gothic Book"/>
              </a:rPr>
              <a:t>GitHub Link:</a:t>
            </a:r>
            <a:r>
              <a:rPr lang="en-IN" sz="2200" dirty="0">
                <a:solidFill>
                  <a:srgbClr val="0070C0"/>
                </a:solidFill>
                <a:latin typeface="Franklin Gothic Book"/>
              </a:rPr>
              <a:t> </a:t>
            </a:r>
            <a:r>
              <a:rPr lang="en-IN" sz="2200" dirty="0">
                <a:solidFill>
                  <a:srgbClr val="0070C0"/>
                </a:solidFill>
                <a:latin typeface="Franklin Gothic Book"/>
                <a:hlinkClick r:id="rId5"/>
              </a:rPr>
              <a:t>https://github.com/Niranjanadec12/HR-Analytics-and-Attrition-Dashboard.git</a:t>
            </a: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TotalTime>
  <Words>677</Words>
  <Application>Microsoft Office PowerPoint</Application>
  <PresentationFormat>Widescreen</PresentationFormat>
  <Paragraphs>73</Paragraphs>
  <Slides>14</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Aptos</vt:lpstr>
      <vt:lpstr>Aptos Display</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  </vt:lpstr>
      <vt:lpstr>  </vt:lpstr>
      <vt:lpstr>  </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Niranjana 121204</cp:lastModifiedBy>
  <cp:revision>107</cp:revision>
  <dcterms:created xsi:type="dcterms:W3CDTF">2024-05-21T11:55:07Z</dcterms:created>
  <dcterms:modified xsi:type="dcterms:W3CDTF">2026-01-21T05:15:46Z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